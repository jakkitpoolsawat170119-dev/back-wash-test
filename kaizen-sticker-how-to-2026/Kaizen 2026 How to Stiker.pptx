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Montserrat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24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jpe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9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5.jpe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92985">
            <a:off x="8406966" y="-2071548"/>
            <a:ext cx="10484497" cy="14144347"/>
          </a:xfrm>
          <a:custGeom>
            <a:avLst/>
            <a:gdLst/>
            <a:ahLst/>
            <a:cxnLst/>
            <a:rect r="r" b="b" t="t" l="l"/>
            <a:pathLst>
              <a:path h="14144347" w="10484497">
                <a:moveTo>
                  <a:pt x="10484498" y="0"/>
                </a:moveTo>
                <a:lnTo>
                  <a:pt x="0" y="0"/>
                </a:lnTo>
                <a:lnTo>
                  <a:pt x="0" y="14144346"/>
                </a:lnTo>
                <a:lnTo>
                  <a:pt x="10484498" y="14144346"/>
                </a:lnTo>
                <a:lnTo>
                  <a:pt x="1048449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194470" y="5884362"/>
            <a:ext cx="9421110" cy="1168106"/>
            <a:chOff x="0" y="0"/>
            <a:chExt cx="3277733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77733" cy="406400"/>
            </a:xfrm>
            <a:custGeom>
              <a:avLst/>
              <a:gdLst/>
              <a:ahLst/>
              <a:cxnLst/>
              <a:rect r="r" b="b" t="t" l="l"/>
              <a:pathLst>
                <a:path h="406400" w="3277733">
                  <a:moveTo>
                    <a:pt x="307453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74533" y="406400"/>
                  </a:lnTo>
                  <a:lnTo>
                    <a:pt x="3277733" y="203200"/>
                  </a:lnTo>
                  <a:lnTo>
                    <a:pt x="3074533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6343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59588" y="577022"/>
            <a:ext cx="8847206" cy="88472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90061" y="1007495"/>
            <a:ext cx="7986261" cy="798626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32309" y="2327254"/>
            <a:ext cx="5094722" cy="509472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530657" y="5884362"/>
            <a:ext cx="9421110" cy="1168106"/>
            <a:chOff x="0" y="0"/>
            <a:chExt cx="3277733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77733" cy="406400"/>
            </a:xfrm>
            <a:custGeom>
              <a:avLst/>
              <a:gdLst/>
              <a:ahLst/>
              <a:cxnLst/>
              <a:rect r="r" b="b" t="t" l="l"/>
              <a:pathLst>
                <a:path h="406400" w="3277733">
                  <a:moveTo>
                    <a:pt x="307453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74533" y="406400"/>
                  </a:lnTo>
                  <a:lnTo>
                    <a:pt x="3277733" y="203200"/>
                  </a:lnTo>
                  <a:lnTo>
                    <a:pt x="3074533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6343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911669"/>
            <a:ext cx="7893824" cy="142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80"/>
              </a:lnSpc>
            </a:pPr>
            <a:r>
              <a:rPr lang="en-US" b="true" sz="5535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STICKER HOW TO_APP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59886" y="-3599961"/>
            <a:ext cx="5927215" cy="592721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276225" cap="sq">
              <a:solidFill>
                <a:srgbClr val="162F5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639099"/>
            <a:ext cx="1023321" cy="736791"/>
          </a:xfrm>
          <a:custGeom>
            <a:avLst/>
            <a:gdLst/>
            <a:ahLst/>
            <a:cxnLst/>
            <a:rect r="r" b="b" t="t" l="l"/>
            <a:pathLst>
              <a:path h="736791" w="1023321">
                <a:moveTo>
                  <a:pt x="0" y="0"/>
                </a:moveTo>
                <a:lnTo>
                  <a:pt x="1023321" y="0"/>
                </a:lnTo>
                <a:lnTo>
                  <a:pt x="1023321" y="736791"/>
                </a:lnTo>
                <a:lnTo>
                  <a:pt x="0" y="7367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-447596" y="9146424"/>
            <a:ext cx="10025832" cy="1140576"/>
            <a:chOff x="0" y="0"/>
            <a:chExt cx="5358473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58473" cy="609600"/>
            </a:xfrm>
            <a:custGeom>
              <a:avLst/>
              <a:gdLst/>
              <a:ahLst/>
              <a:cxnLst/>
              <a:rect r="r" b="b" t="t" l="l"/>
              <a:pathLst>
                <a:path h="609600" w="5358473">
                  <a:moveTo>
                    <a:pt x="51552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58473" y="609600"/>
                  </a:lnTo>
                  <a:lnTo>
                    <a:pt x="5155273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51552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28700" y="9424228"/>
            <a:ext cx="532048" cy="532048"/>
          </a:xfrm>
          <a:custGeom>
            <a:avLst/>
            <a:gdLst/>
            <a:ahLst/>
            <a:cxnLst/>
            <a:rect r="r" b="b" t="t" l="l"/>
            <a:pathLst>
              <a:path h="532048" w="532048">
                <a:moveTo>
                  <a:pt x="0" y="0"/>
                </a:moveTo>
                <a:lnTo>
                  <a:pt x="532048" y="0"/>
                </a:lnTo>
                <a:lnTo>
                  <a:pt x="532048" y="532048"/>
                </a:lnTo>
                <a:lnTo>
                  <a:pt x="0" y="5320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023988" y="7895601"/>
            <a:ext cx="1332145" cy="479572"/>
          </a:xfrm>
          <a:custGeom>
            <a:avLst/>
            <a:gdLst/>
            <a:ahLst/>
            <a:cxnLst/>
            <a:rect r="r" b="b" t="t" l="l"/>
            <a:pathLst>
              <a:path h="479572" w="1332145">
                <a:moveTo>
                  <a:pt x="0" y="0"/>
                </a:moveTo>
                <a:lnTo>
                  <a:pt x="1332145" y="0"/>
                </a:lnTo>
                <a:lnTo>
                  <a:pt x="1332145" y="479572"/>
                </a:lnTo>
                <a:lnTo>
                  <a:pt x="0" y="47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6161315" y="337236"/>
            <a:ext cx="1332145" cy="479572"/>
          </a:xfrm>
          <a:custGeom>
            <a:avLst/>
            <a:gdLst/>
            <a:ahLst/>
            <a:cxnLst/>
            <a:rect r="r" b="b" t="t" l="l"/>
            <a:pathLst>
              <a:path h="479572" w="1332145">
                <a:moveTo>
                  <a:pt x="1332145" y="0"/>
                </a:moveTo>
                <a:lnTo>
                  <a:pt x="0" y="0"/>
                </a:lnTo>
                <a:lnTo>
                  <a:pt x="0" y="479572"/>
                </a:lnTo>
                <a:lnTo>
                  <a:pt x="1332145" y="479572"/>
                </a:lnTo>
                <a:lnTo>
                  <a:pt x="133214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903875" y="1028700"/>
            <a:ext cx="710850" cy="209405"/>
          </a:xfrm>
          <a:custGeom>
            <a:avLst/>
            <a:gdLst/>
            <a:ahLst/>
            <a:cxnLst/>
            <a:rect r="r" b="b" t="t" l="l"/>
            <a:pathLst>
              <a:path h="209405" w="710850">
                <a:moveTo>
                  <a:pt x="0" y="0"/>
                </a:moveTo>
                <a:lnTo>
                  <a:pt x="710850" y="0"/>
                </a:lnTo>
                <a:lnTo>
                  <a:pt x="710850" y="209405"/>
                </a:lnTo>
                <a:lnTo>
                  <a:pt x="0" y="2094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95454" y="4278825"/>
            <a:ext cx="8482782" cy="104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4"/>
              </a:lnSpc>
              <a:spcBef>
                <a:spcPct val="0"/>
              </a:spcBef>
            </a:pPr>
            <a:r>
              <a:rPr lang="en-US" sz="3038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KAIZEN &amp; INNOVATION AWARDS 2026</a:t>
            </a:r>
          </a:p>
          <a:p>
            <a:pPr algn="l" marL="0" indent="0" lvl="0">
              <a:lnSpc>
                <a:spcPts val="4254"/>
              </a:lnSpc>
              <a:spcBef>
                <a:spcPct val="0"/>
              </a:spcBef>
            </a:pPr>
            <a:r>
              <a:rPr lang="en-US" sz="3038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ประเภทที่ 2: ENGAGEMENT &amp; PRODUCTIVITY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5454" y="6079839"/>
            <a:ext cx="6254643" cy="5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4"/>
              </a:lnSpc>
              <a:spcBef>
                <a:spcPct val="0"/>
              </a:spcBef>
            </a:pPr>
            <a:r>
              <a:rPr lang="en-US" b="true" sz="3317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KAIZEN &amp; INNOVATION 2026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26747" y="739408"/>
            <a:ext cx="3293095" cy="40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8"/>
              </a:lnSpc>
            </a:pPr>
            <a:r>
              <a:rPr lang="en-US" sz="2420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Kaizen &amp; Innovation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15274" y="9465252"/>
            <a:ext cx="5266639" cy="37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5"/>
              </a:lnSpc>
            </a:pPr>
            <a:r>
              <a:rPr lang="en-US" sz="214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Kaizen &amp; Innovation Awards 2026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6715991" y="9041721"/>
            <a:ext cx="710850" cy="209405"/>
          </a:xfrm>
          <a:custGeom>
            <a:avLst/>
            <a:gdLst/>
            <a:ahLst/>
            <a:cxnLst/>
            <a:rect r="r" b="b" t="t" l="l"/>
            <a:pathLst>
              <a:path h="209405" w="710850">
                <a:moveTo>
                  <a:pt x="0" y="0"/>
                </a:moveTo>
                <a:lnTo>
                  <a:pt x="710850" y="0"/>
                </a:lnTo>
                <a:lnTo>
                  <a:pt x="710850" y="209405"/>
                </a:lnTo>
                <a:lnTo>
                  <a:pt x="0" y="2094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40391" y="-111876"/>
            <a:ext cx="10025832" cy="1140576"/>
            <a:chOff x="0" y="0"/>
            <a:chExt cx="5358473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58473" cy="609600"/>
            </a:xfrm>
            <a:custGeom>
              <a:avLst/>
              <a:gdLst/>
              <a:ahLst/>
              <a:cxnLst/>
              <a:rect r="r" b="b" t="t" l="l"/>
              <a:pathLst>
                <a:path h="609600" w="5358473">
                  <a:moveTo>
                    <a:pt x="51552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58473" y="609600"/>
                  </a:lnTo>
                  <a:lnTo>
                    <a:pt x="5155273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51552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22964" y="-32527"/>
            <a:ext cx="6254643" cy="88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4"/>
              </a:lnSpc>
              <a:spcBef>
                <a:spcPct val="0"/>
              </a:spcBef>
            </a:pPr>
            <a:r>
              <a:rPr lang="en-US" b="true" sz="5217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ที่ปรึกษาโครงการ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91746" y="3590301"/>
            <a:ext cx="10025832" cy="1140576"/>
            <a:chOff x="0" y="0"/>
            <a:chExt cx="5358473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8473" cy="609600"/>
            </a:xfrm>
            <a:custGeom>
              <a:avLst/>
              <a:gdLst/>
              <a:ahLst/>
              <a:cxnLst/>
              <a:rect r="r" b="b" t="t" l="l"/>
              <a:pathLst>
                <a:path h="609600" w="5358473">
                  <a:moveTo>
                    <a:pt x="51552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58473" y="609600"/>
                  </a:lnTo>
                  <a:lnTo>
                    <a:pt x="5155273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51552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59371" y="3610898"/>
            <a:ext cx="6254643" cy="88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4"/>
              </a:lnSpc>
              <a:spcBef>
                <a:spcPct val="0"/>
              </a:spcBef>
            </a:pPr>
            <a:r>
              <a:rPr lang="en-US" b="true" sz="5217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สมาชิกกลุ่ม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76841" y="1642814"/>
            <a:ext cx="7909519" cy="148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นายอาทิตย์ นาคบุญ</a:t>
            </a:r>
          </a:p>
          <a:p>
            <a:pPr algn="l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ผู้ช่วยผู้จัดการฝ่ายผลิตภัณฑ์พิเศษ</a:t>
            </a:r>
          </a:p>
          <a:p>
            <a:pPr algn="l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งานผลิตภัณฑ์พิเศษ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1190" y="1762648"/>
            <a:ext cx="5578096" cy="98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น.ส.บุณณดา ศรีแก้ว</a:t>
            </a:r>
          </a:p>
          <a:p>
            <a:pPr algn="l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หัวหน้าแผนกบรรจุผลิตภัณฑ์พิเศษ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85337" y="1203965"/>
            <a:ext cx="2149758" cy="214975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927495" y="1754842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653307" y="1203965"/>
            <a:ext cx="2149758" cy="21497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169563" y="1754842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0" y="6980324"/>
            <a:ext cx="6544892" cy="98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นายจักรกฤษ พูลสวัสดิ์</a:t>
            </a:r>
          </a:p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เจ้าหน้าที่กระบวนผลิต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84658" y="6980324"/>
            <a:ext cx="6544892" cy="98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น.ส.ชิดชไม กาฬภักดี</a:t>
            </a:r>
          </a:p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เจ้าหน้าที่จัดเตรียมวัตถุดิบ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45132" y="6953822"/>
            <a:ext cx="6544892" cy="98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น.ส.กนกพร สุขศรี</a:t>
            </a:r>
          </a:p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พนักงานจัดเตรียมวัตถุดิบ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29649" y="9201150"/>
            <a:ext cx="6544892" cy="98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นายศราวุธ เกษประทุม</a:t>
            </a:r>
          </a:p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เจ้าหน้าที่กระบวนผลิต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9250967"/>
            <a:ext cx="6544892" cy="98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นายอนุวัตร สุวรรณวงษ์</a:t>
            </a:r>
          </a:p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เจ้าหน้าที่กระบวนผลิต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197567" y="4878191"/>
            <a:ext cx="2149758" cy="214975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59039" y="4878191"/>
            <a:ext cx="2149758" cy="214975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14014" y="4797552"/>
            <a:ext cx="2149758" cy="214975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09779" y="7108542"/>
            <a:ext cx="2149758" cy="214975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71717" y="7180349"/>
            <a:ext cx="2149758" cy="214975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74687" y="5429068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583581" y="7659419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167409" y="5348429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1803065" y="7731226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187815" y="5348429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99965" y="-272016"/>
            <a:ext cx="14441376" cy="10831032"/>
            <a:chOff x="0" y="0"/>
            <a:chExt cx="8128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426780" y="6452725"/>
            <a:ext cx="12828080" cy="5611149"/>
            <a:chOff x="0" y="0"/>
            <a:chExt cx="1393654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3653" cy="609600"/>
            </a:xfrm>
            <a:custGeom>
              <a:avLst/>
              <a:gdLst/>
              <a:ahLst/>
              <a:cxnLst/>
              <a:rect r="r" b="b" t="t" l="l"/>
              <a:pathLst>
                <a:path h="609600" w="1393653">
                  <a:moveTo>
                    <a:pt x="203200" y="0"/>
                  </a:moveTo>
                  <a:lnTo>
                    <a:pt x="1393653" y="0"/>
                  </a:lnTo>
                  <a:lnTo>
                    <a:pt x="119045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119045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28700" y="6767355"/>
            <a:ext cx="1372598" cy="1372598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88198" t="-4096" r="-88198" b="-4096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756061" y="3415518"/>
            <a:ext cx="1140616" cy="481910"/>
          </a:xfrm>
          <a:custGeom>
            <a:avLst/>
            <a:gdLst/>
            <a:ahLst/>
            <a:cxnLst/>
            <a:rect r="r" b="b" t="t" l="l"/>
            <a:pathLst>
              <a:path h="481910" w="1140616">
                <a:moveTo>
                  <a:pt x="0" y="0"/>
                </a:moveTo>
                <a:lnTo>
                  <a:pt x="1140617" y="0"/>
                </a:lnTo>
                <a:lnTo>
                  <a:pt x="1140617" y="481911"/>
                </a:lnTo>
                <a:lnTo>
                  <a:pt x="0" y="481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1916" y="787745"/>
            <a:ext cx="1140616" cy="481910"/>
          </a:xfrm>
          <a:custGeom>
            <a:avLst/>
            <a:gdLst/>
            <a:ahLst/>
            <a:cxnLst/>
            <a:rect r="r" b="b" t="t" l="l"/>
            <a:pathLst>
              <a:path h="481910" w="1140616">
                <a:moveTo>
                  <a:pt x="0" y="0"/>
                </a:moveTo>
                <a:lnTo>
                  <a:pt x="1140616" y="0"/>
                </a:lnTo>
                <a:lnTo>
                  <a:pt x="1140616" y="481910"/>
                </a:lnTo>
                <a:lnTo>
                  <a:pt x="0" y="481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74370" y="361220"/>
            <a:ext cx="10722307" cy="126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9"/>
              </a:lnSpc>
            </a:pPr>
            <a:r>
              <a:rPr lang="en-US" b="true" sz="3692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ภาพรวมการประกวด</a:t>
            </a:r>
          </a:p>
          <a:p>
            <a:pPr algn="l" marL="0" indent="0" lvl="0">
              <a:lnSpc>
                <a:spcPts val="5169"/>
              </a:lnSpc>
            </a:pPr>
            <a:r>
              <a:rPr lang="en-US" b="true" sz="3692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KAIZEN &amp; INNOVATION AWARDS 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7998" y="7009443"/>
            <a:ext cx="3018524" cy="33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ประเภทที่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77998" y="7425079"/>
            <a:ext cx="4292645" cy="2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8"/>
              </a:lnSpc>
            </a:pPr>
            <a:r>
              <a:rPr lang="en-US" b="true" sz="15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ENGAGEMENT &amp; PRODUCTIVITY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267051"/>
            <a:ext cx="8283060" cy="72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โครงการนี้มุ่งเน้นการลดขั้นตอนการค้นหาข้อมูล Sticker ลูกค้า เพิ่มความแม่นยำในการผลิต และเพิ่ม Productivity ให้กับทีมงานฝ่ายผลิต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3979" y="6344276"/>
            <a:ext cx="19452250" cy="4740313"/>
            <a:chOff x="0" y="0"/>
            <a:chExt cx="5123226" cy="1248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3226" cy="1248477"/>
            </a:xfrm>
            <a:custGeom>
              <a:avLst/>
              <a:gdLst/>
              <a:ahLst/>
              <a:cxnLst/>
              <a:rect r="r" b="b" t="t" l="l"/>
              <a:pathLst>
                <a:path h="1248477" w="5123226">
                  <a:moveTo>
                    <a:pt x="0" y="0"/>
                  </a:moveTo>
                  <a:lnTo>
                    <a:pt x="5123226" y="0"/>
                  </a:lnTo>
                  <a:lnTo>
                    <a:pt x="5123226" y="1248477"/>
                  </a:lnTo>
                  <a:lnTo>
                    <a:pt x="0" y="1248477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23226" cy="1286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271014"/>
            <a:ext cx="7857154" cy="9091840"/>
            <a:chOff x="0" y="0"/>
            <a:chExt cx="1273422" cy="1473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3422" cy="1473529"/>
            </a:xfrm>
            <a:custGeom>
              <a:avLst/>
              <a:gdLst/>
              <a:ahLst/>
              <a:cxnLst/>
              <a:rect r="r" b="b" t="t" l="l"/>
              <a:pathLst>
                <a:path h="1473529" w="1273422">
                  <a:moveTo>
                    <a:pt x="636711" y="0"/>
                  </a:moveTo>
                  <a:lnTo>
                    <a:pt x="1273422" y="203200"/>
                  </a:lnTo>
                  <a:lnTo>
                    <a:pt x="1273422" y="1270329"/>
                  </a:lnTo>
                  <a:lnTo>
                    <a:pt x="636711" y="1473529"/>
                  </a:lnTo>
                  <a:lnTo>
                    <a:pt x="0" y="1270329"/>
                  </a:lnTo>
                  <a:lnTo>
                    <a:pt x="0" y="203200"/>
                  </a:lnTo>
                  <a:lnTo>
                    <a:pt x="636711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1600"/>
              <a:ext cx="1273422" cy="1232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02146" y="3271014"/>
            <a:ext cx="7857154" cy="9091840"/>
            <a:chOff x="0" y="0"/>
            <a:chExt cx="1273422" cy="1473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3422" cy="1473529"/>
            </a:xfrm>
            <a:custGeom>
              <a:avLst/>
              <a:gdLst/>
              <a:ahLst/>
              <a:cxnLst/>
              <a:rect r="r" b="b" t="t" l="l"/>
              <a:pathLst>
                <a:path h="1473529" w="1273422">
                  <a:moveTo>
                    <a:pt x="636711" y="0"/>
                  </a:moveTo>
                  <a:lnTo>
                    <a:pt x="1273422" y="203200"/>
                  </a:lnTo>
                  <a:lnTo>
                    <a:pt x="1273422" y="1270329"/>
                  </a:lnTo>
                  <a:lnTo>
                    <a:pt x="636711" y="1473529"/>
                  </a:lnTo>
                  <a:lnTo>
                    <a:pt x="0" y="1270329"/>
                  </a:lnTo>
                  <a:lnTo>
                    <a:pt x="0" y="203200"/>
                  </a:lnTo>
                  <a:lnTo>
                    <a:pt x="636711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1600"/>
              <a:ext cx="1273422" cy="1232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26846" y="4175160"/>
            <a:ext cx="3896119" cy="61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9"/>
              </a:lnSpc>
            </a:pPr>
            <a:r>
              <a:rPr lang="en-US" b="true" sz="3592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ความต้องการลูกค้า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2739289" y="4978343"/>
            <a:ext cx="4435976" cy="25076"/>
          </a:xfrm>
          <a:prstGeom prst="line">
            <a:avLst/>
          </a:prstGeom>
          <a:ln cap="rnd" w="76200">
            <a:solidFill>
              <a:srgbClr val="162F5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1499958" y="4175160"/>
            <a:ext cx="3961196" cy="61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9"/>
              </a:lnSpc>
            </a:pPr>
            <a:r>
              <a:rPr lang="en-US" b="true" sz="3592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ความหลากหลาย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0759397" y="5041519"/>
            <a:ext cx="5142652" cy="25076"/>
          </a:xfrm>
          <a:prstGeom prst="line">
            <a:avLst/>
          </a:prstGeom>
          <a:ln cap="rnd" w="76200">
            <a:solidFill>
              <a:srgbClr val="162F5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739289" y="598774"/>
            <a:ext cx="12634308" cy="163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421"/>
              </a:lnSpc>
            </a:pPr>
            <a:r>
              <a:rPr lang="en-US" b="true" sz="9586">
                <a:solidFill>
                  <a:srgbClr val="0934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ที่มาของโครงการ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6961" y="5186312"/>
            <a:ext cx="7380633" cy="503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158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ผลิตภัณฑ์บาง SKU จะต้องมาการติดSticker บนบรรจุภัณฑ์เช่น</a:t>
            </a:r>
          </a:p>
          <a:p>
            <a:pPr algn="l" marL="681963" indent="-340982" lvl="1">
              <a:lnSpc>
                <a:spcPts val="4422"/>
              </a:lnSpc>
              <a:buFont typeface="Arial"/>
              <a:buChar char="•"/>
            </a:pPr>
            <a:r>
              <a:rPr lang="en-US" sz="3158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ติดที่ถุง </a:t>
            </a:r>
          </a:p>
          <a:p>
            <a:pPr algn="l" marL="681963" indent="-340982" lvl="1">
              <a:lnSpc>
                <a:spcPts val="4422"/>
              </a:lnSpc>
              <a:buFont typeface="Arial"/>
              <a:buChar char="•"/>
            </a:pPr>
            <a:r>
              <a:rPr lang="en-US" sz="3158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ติดที่ขวด </a:t>
            </a:r>
          </a:p>
          <a:p>
            <a:pPr algn="l" marL="681963" indent="-340982" lvl="1">
              <a:lnSpc>
                <a:spcPts val="4422"/>
              </a:lnSpc>
              <a:buFont typeface="Arial"/>
              <a:buChar char="•"/>
            </a:pPr>
            <a:r>
              <a:rPr lang="en-US" sz="3158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ติดที่กล่อง</a:t>
            </a:r>
          </a:p>
          <a:p>
            <a:pPr algn="l">
              <a:lnSpc>
                <a:spcPts val="4422"/>
              </a:lnSpc>
            </a:pPr>
            <a:r>
              <a:rPr lang="en-US" sz="3158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ส่วนใหญ่เป็นสินค้าส่งออกไปต่างประเทศเพื่อบ่งบอก อาจะเป็นเป็นชื่อลูกค้า, ส่วนผสม เพื่อให้ผู้บริโภคในประเทศนั้นๆ เข้าใจ</a:t>
            </a:r>
          </a:p>
          <a:p>
            <a:pPr algn="l">
              <a:lnSpc>
                <a:spcPts val="499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820643" y="5549404"/>
            <a:ext cx="7020159" cy="270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</a:pPr>
            <a:r>
              <a:rPr lang="en-US" sz="3099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เมื่อความต้องการของลูกค้า ที่ระบุชนิด ขนาด ตำแหน่งติด, มีความหลากหลายขึ้น จึงทำให้ทางฝ่ายผลิตหาวิธี ที่จะช่วยให้การค้นหา รูปแบบการติด, ชื่อลูกค้า, ทั้งยังตำแหน่งในการติด Sticker ให้ถูกต้องตามที่ลูกค้าต้องการ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-3188141" y="-3143973"/>
            <a:ext cx="5927215" cy="592721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276225" cap="sq">
              <a:solidFill>
                <a:srgbClr val="162F5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324392" y="-3143973"/>
            <a:ext cx="5927215" cy="592721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276225" cap="sq">
              <a:solidFill>
                <a:srgbClr val="162F5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046907"/>
            <a:ext cx="2430424" cy="24304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5449" y="3187240"/>
            <a:ext cx="2149758" cy="21497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78744" y="3046907"/>
            <a:ext cx="2430424" cy="24304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5493" y="3187240"/>
            <a:ext cx="2149758" cy="21497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28788" y="3046907"/>
            <a:ext cx="2430424" cy="243042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75537" y="3187240"/>
            <a:ext cx="2149758" cy="21497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78832" y="3046907"/>
            <a:ext cx="2430424" cy="243042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25581" y="3187240"/>
            <a:ext cx="2149758" cy="214975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828876" y="3046907"/>
            <a:ext cx="2430424" cy="243042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975625" y="3187240"/>
            <a:ext cx="2149758" cy="214975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91744" y="3608112"/>
            <a:ext cx="1088478" cy="1231658"/>
          </a:xfrm>
          <a:custGeom>
            <a:avLst/>
            <a:gdLst/>
            <a:ahLst/>
            <a:cxnLst/>
            <a:rect r="r" b="b" t="t" l="l"/>
            <a:pathLst>
              <a:path h="1231658" w="1088478">
                <a:moveTo>
                  <a:pt x="0" y="0"/>
                </a:moveTo>
                <a:lnTo>
                  <a:pt x="1088477" y="0"/>
                </a:lnTo>
                <a:lnTo>
                  <a:pt x="1088477" y="1231658"/>
                </a:lnTo>
                <a:lnTo>
                  <a:pt x="0" y="1231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098892" y="3617709"/>
            <a:ext cx="1145573" cy="1121229"/>
          </a:xfrm>
          <a:custGeom>
            <a:avLst/>
            <a:gdLst/>
            <a:ahLst/>
            <a:cxnLst/>
            <a:rect r="r" b="b" t="t" l="l"/>
            <a:pathLst>
              <a:path h="1121229" w="1145573">
                <a:moveTo>
                  <a:pt x="0" y="0"/>
                </a:moveTo>
                <a:lnTo>
                  <a:pt x="1145573" y="0"/>
                </a:lnTo>
                <a:lnTo>
                  <a:pt x="1145573" y="1121230"/>
                </a:lnTo>
                <a:lnTo>
                  <a:pt x="0" y="112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641453" y="3736885"/>
            <a:ext cx="1002154" cy="1048004"/>
          </a:xfrm>
          <a:custGeom>
            <a:avLst/>
            <a:gdLst/>
            <a:ahLst/>
            <a:cxnLst/>
            <a:rect r="r" b="b" t="t" l="l"/>
            <a:pathLst>
              <a:path h="1048004" w="1002154">
                <a:moveTo>
                  <a:pt x="0" y="0"/>
                </a:moveTo>
                <a:lnTo>
                  <a:pt x="1002154" y="0"/>
                </a:lnTo>
                <a:lnTo>
                  <a:pt x="1002154" y="1048004"/>
                </a:lnTo>
                <a:lnTo>
                  <a:pt x="0" y="1048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182511" y="3818694"/>
            <a:ext cx="823107" cy="882689"/>
          </a:xfrm>
          <a:custGeom>
            <a:avLst/>
            <a:gdLst/>
            <a:ahLst/>
            <a:cxnLst/>
            <a:rect r="r" b="b" t="t" l="l"/>
            <a:pathLst>
              <a:path h="882689" w="823107">
                <a:moveTo>
                  <a:pt x="0" y="0"/>
                </a:moveTo>
                <a:lnTo>
                  <a:pt x="823107" y="0"/>
                </a:lnTo>
                <a:lnTo>
                  <a:pt x="823107" y="882689"/>
                </a:lnTo>
                <a:lnTo>
                  <a:pt x="0" y="882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583356" y="3807416"/>
            <a:ext cx="1031726" cy="1046923"/>
          </a:xfrm>
          <a:custGeom>
            <a:avLst/>
            <a:gdLst/>
            <a:ahLst/>
            <a:cxnLst/>
            <a:rect r="r" b="b" t="t" l="l"/>
            <a:pathLst>
              <a:path h="1046923" w="1031726">
                <a:moveTo>
                  <a:pt x="0" y="0"/>
                </a:moveTo>
                <a:lnTo>
                  <a:pt x="1031726" y="0"/>
                </a:lnTo>
                <a:lnTo>
                  <a:pt x="1031726" y="1046923"/>
                </a:lnTo>
                <a:lnTo>
                  <a:pt x="0" y="1046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-1022323" y="9258300"/>
            <a:ext cx="10750552" cy="2065646"/>
            <a:chOff x="0" y="0"/>
            <a:chExt cx="3172632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72632" cy="609600"/>
            </a:xfrm>
            <a:custGeom>
              <a:avLst/>
              <a:gdLst/>
              <a:ahLst/>
              <a:cxnLst/>
              <a:rect r="r" b="b" t="t" l="l"/>
              <a:pathLst>
                <a:path h="609600" w="3172632">
                  <a:moveTo>
                    <a:pt x="203200" y="0"/>
                  </a:moveTo>
                  <a:lnTo>
                    <a:pt x="3172632" y="0"/>
                  </a:lnTo>
                  <a:lnTo>
                    <a:pt x="296943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01600" y="-38100"/>
              <a:ext cx="2969432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811880" y="916632"/>
            <a:ext cx="10664239" cy="86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73"/>
              </a:lnSpc>
            </a:pPr>
            <a:r>
              <a:rPr lang="en-US" b="true" sz="53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ปัญหาจากรูปแบบการทำงานเดิม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3903" y="5833187"/>
            <a:ext cx="2840019" cy="35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เสียเวลาค้นหา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73947" y="5833187"/>
            <a:ext cx="2840019" cy="68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ความเสี่ยงผิดพลาด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723991" y="5833187"/>
            <a:ext cx="2840019" cy="68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สิ้นเปลือง</a:t>
            </a:r>
          </a:p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ทรัพยากร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74035" y="5833187"/>
            <a:ext cx="2840019" cy="68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ข้อมูลกระจัดกระจาย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624079" y="5833187"/>
            <a:ext cx="2840019" cy="68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ไม่มีระบบ</a:t>
            </a:r>
          </a:p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ติดตาม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90340" y="6779857"/>
            <a:ext cx="3107144" cy="139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ใช้เวลาค้นหารูปแบบ Sticker และชื่อลูกค้าใน Chat Line นานถึง 5-10 นาที ต่อคำสั่งผลิต ทำให้กระบวนการล่าช้า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140384" y="6779857"/>
            <a:ext cx="3107144" cy="139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มีความเสี่ยงสูงที่จะติด Sticker ผิดตำแหน่งหรือผิดลูกค้า เนื่องจากพึ่งพาความจำของพนักงาน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590428" y="6779857"/>
            <a:ext cx="3107144" cy="10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ต้องจัดสรรบุคลากรเฉพาะมาทำหน้าที่ค้นหาข้อมูล Sticker โดยเฉพาะ สิ้นเปลืองทรัพยากร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040472" y="6779857"/>
            <a:ext cx="3107144" cy="10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ข้อมูล Sticker ของลูกค้าแต่ละรายถูกเก็บกระจัดกระจาย ไม่มีระบบกลางรวบรวมข้อมูล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490516" y="6779857"/>
            <a:ext cx="3107144" cy="10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ไม่มีระบบติดตามหรือตรวจสอบย้อนหลังว่าใช้ Sticker รูปแบบใดกับลูกค้ารายใด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559771" y="9246400"/>
            <a:ext cx="10750552" cy="2065646"/>
            <a:chOff x="0" y="0"/>
            <a:chExt cx="3172632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72632" cy="609600"/>
            </a:xfrm>
            <a:custGeom>
              <a:avLst/>
              <a:gdLst/>
              <a:ahLst/>
              <a:cxnLst/>
              <a:rect r="r" b="b" t="t" l="l"/>
              <a:pathLst>
                <a:path h="609600" w="3172632">
                  <a:moveTo>
                    <a:pt x="203200" y="0"/>
                  </a:moveTo>
                  <a:lnTo>
                    <a:pt x="3172632" y="0"/>
                  </a:lnTo>
                  <a:lnTo>
                    <a:pt x="296943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01600" y="-38100"/>
              <a:ext cx="2969432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01575" y="1309733"/>
            <a:ext cx="11217868" cy="20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135"/>
              </a:lnSpc>
            </a:pPr>
            <a:r>
              <a:rPr lang="en-US" b="true" sz="5811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แนวทางแก้ไขด้วยระบบ CHAT BOT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5205364" y="0"/>
            <a:ext cx="13025316" cy="10527736"/>
            <a:chOff x="0" y="0"/>
            <a:chExt cx="75422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4220" cy="609600"/>
            </a:xfrm>
            <a:custGeom>
              <a:avLst/>
              <a:gdLst/>
              <a:ahLst/>
              <a:cxnLst/>
              <a:rect r="r" b="b" t="t" l="l"/>
              <a:pathLst>
                <a:path h="609600" w="754220">
                  <a:moveTo>
                    <a:pt x="55102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754220" y="609600"/>
                  </a:lnTo>
                  <a:lnTo>
                    <a:pt x="55102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55102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697757" y="91097"/>
            <a:ext cx="14190457" cy="10436639"/>
            <a:chOff x="0" y="0"/>
            <a:chExt cx="828859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8859" cy="609600"/>
            </a:xfrm>
            <a:custGeom>
              <a:avLst/>
              <a:gdLst/>
              <a:ahLst/>
              <a:cxnLst/>
              <a:rect r="r" b="b" t="t" l="l"/>
              <a:pathLst>
                <a:path h="609600" w="828859">
                  <a:moveTo>
                    <a:pt x="62565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28859" y="609600"/>
                  </a:lnTo>
                  <a:lnTo>
                    <a:pt x="625659" y="0"/>
                  </a:lnTo>
                  <a:close/>
                </a:path>
              </a:pathLst>
            </a:custGeom>
            <a:blipFill>
              <a:blip r:embed="rId3"/>
              <a:stretch>
                <a:fillRect l="-37296" t="0" r="-3729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36807" y="6944417"/>
            <a:ext cx="1814386" cy="1960232"/>
            <a:chOff x="0" y="0"/>
            <a:chExt cx="2419181" cy="261364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3358" y="197820"/>
              <a:ext cx="2415823" cy="241582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8A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2415823" cy="2415823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62F5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0582335" y="6944417"/>
            <a:ext cx="1811868" cy="1954895"/>
            <a:chOff x="0" y="0"/>
            <a:chExt cx="2415823" cy="260652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190704"/>
              <a:ext cx="2415823" cy="2415823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8A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2415823" cy="2415823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62F5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3108578" y="6939080"/>
            <a:ext cx="1814386" cy="1960232"/>
            <a:chOff x="0" y="0"/>
            <a:chExt cx="2419181" cy="2613643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197820"/>
              <a:ext cx="2415823" cy="2415823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8A0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58" y="0"/>
              <a:ext cx="2415823" cy="2415823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62F5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15640153" y="6925637"/>
            <a:ext cx="1823043" cy="1960232"/>
            <a:chOff x="0" y="0"/>
            <a:chExt cx="2430725" cy="2613643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14901" y="197820"/>
              <a:ext cx="2415823" cy="2415823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8A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2415823" cy="2415823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62F5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98"/>
                  </a:lnSpc>
                </a:pPr>
              </a:p>
            </p:txBody>
          </p:sp>
        </p:grpSp>
      </p:grpSp>
      <p:sp>
        <p:nvSpPr>
          <p:cNvPr name="Freeform 37" id="37"/>
          <p:cNvSpPr/>
          <p:nvPr/>
        </p:nvSpPr>
        <p:spPr>
          <a:xfrm flipH="false" flipV="false" rot="0">
            <a:off x="16090280" y="7425133"/>
            <a:ext cx="922790" cy="961240"/>
          </a:xfrm>
          <a:custGeom>
            <a:avLst/>
            <a:gdLst/>
            <a:ahLst/>
            <a:cxnLst/>
            <a:rect r="r" b="b" t="t" l="l"/>
            <a:pathLst>
              <a:path h="961240" w="922790">
                <a:moveTo>
                  <a:pt x="0" y="0"/>
                </a:moveTo>
                <a:lnTo>
                  <a:pt x="922790" y="0"/>
                </a:lnTo>
                <a:lnTo>
                  <a:pt x="922790" y="961240"/>
                </a:lnTo>
                <a:lnTo>
                  <a:pt x="0" y="961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635585" y="7445388"/>
            <a:ext cx="763186" cy="764141"/>
          </a:xfrm>
          <a:custGeom>
            <a:avLst/>
            <a:gdLst/>
            <a:ahLst/>
            <a:cxnLst/>
            <a:rect r="r" b="b" t="t" l="l"/>
            <a:pathLst>
              <a:path h="764141" w="763186">
                <a:moveTo>
                  <a:pt x="0" y="0"/>
                </a:moveTo>
                <a:lnTo>
                  <a:pt x="763186" y="0"/>
                </a:lnTo>
                <a:lnTo>
                  <a:pt x="763186" y="764141"/>
                </a:lnTo>
                <a:lnTo>
                  <a:pt x="0" y="7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085814" y="7420365"/>
            <a:ext cx="768449" cy="789164"/>
          </a:xfrm>
          <a:custGeom>
            <a:avLst/>
            <a:gdLst/>
            <a:ahLst/>
            <a:cxnLst/>
            <a:rect r="r" b="b" t="t" l="l"/>
            <a:pathLst>
              <a:path h="789164" w="768449">
                <a:moveTo>
                  <a:pt x="0" y="0"/>
                </a:moveTo>
                <a:lnTo>
                  <a:pt x="768449" y="0"/>
                </a:lnTo>
                <a:lnTo>
                  <a:pt x="768449" y="789164"/>
                </a:lnTo>
                <a:lnTo>
                  <a:pt x="0" y="789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759400" y="7397855"/>
            <a:ext cx="883488" cy="988518"/>
          </a:xfrm>
          <a:custGeom>
            <a:avLst/>
            <a:gdLst/>
            <a:ahLst/>
            <a:cxnLst/>
            <a:rect r="r" b="b" t="t" l="l"/>
            <a:pathLst>
              <a:path h="988518" w="883488">
                <a:moveTo>
                  <a:pt x="0" y="0"/>
                </a:moveTo>
                <a:lnTo>
                  <a:pt x="883487" y="0"/>
                </a:lnTo>
                <a:lnTo>
                  <a:pt x="883487" y="988518"/>
                </a:lnTo>
                <a:lnTo>
                  <a:pt x="0" y="988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687772" y="4534308"/>
            <a:ext cx="10419035" cy="118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94"/>
              </a:lnSpc>
            </a:pPr>
            <a:r>
              <a:rPr lang="en-US" b="true" sz="22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ระบบ Chat Bot ถูกพัฒนาให้เป็นส่วนหนึ่งของ Application เดิมที่ใช้งานอยู่ โดยไม่จำเป็นต้องสร้างระบบใหม่ทั้งหมด ช่วยลดต้นทุนและระยะเวลาในการพัฒนา พร้อมทั้งเพิ่มความสะดวกในการใช้งานให้กับทีมผลิต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640153" y="9220200"/>
            <a:ext cx="2104705" cy="7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3"/>
              </a:lnSpc>
            </a:pPr>
            <a:r>
              <a:rPr lang="en-US" b="true" sz="208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ความเร็วภายใน 1 วินาที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97290" y="9123994"/>
            <a:ext cx="2478690" cy="7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3"/>
              </a:lnSpc>
            </a:pPr>
            <a:r>
              <a:rPr lang="en-US" b="true" sz="208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ค้นหาชื่อและตำแหน่ง Sticker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82335" y="9123994"/>
            <a:ext cx="2176891" cy="7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3"/>
              </a:lnSpc>
            </a:pPr>
            <a:r>
              <a:rPr lang="en-US" b="true" sz="208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แยก Category ค้นหา Sticker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57391" y="9123994"/>
            <a:ext cx="2104705" cy="74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</a:pPr>
            <a:r>
              <a:rPr lang="en-US" b="true" sz="218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ใช้งานใน App เดิม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31028"/>
            <a:ext cx="11355305" cy="65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3"/>
              </a:lnSpc>
            </a:pPr>
            <a:r>
              <a:rPr lang="en-US" b="true" sz="41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โครงสร้างระบบ Chat Bot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8643895" y="-2341789"/>
            <a:ext cx="10484497" cy="14144347"/>
          </a:xfrm>
          <a:custGeom>
            <a:avLst/>
            <a:gdLst/>
            <a:ahLst/>
            <a:cxnLst/>
            <a:rect r="r" b="b" t="t" l="l"/>
            <a:pathLst>
              <a:path h="14144347" w="10484497">
                <a:moveTo>
                  <a:pt x="10484497" y="0"/>
                </a:moveTo>
                <a:lnTo>
                  <a:pt x="0" y="0"/>
                </a:lnTo>
                <a:lnTo>
                  <a:pt x="0" y="14144347"/>
                </a:lnTo>
                <a:lnTo>
                  <a:pt x="10484497" y="14144347"/>
                </a:lnTo>
                <a:lnTo>
                  <a:pt x="1048449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871940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9861" y="3852890"/>
            <a:ext cx="3158022" cy="40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5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Workflow n8n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5814351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9861" y="5795301"/>
            <a:ext cx="3158022" cy="40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5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ฐานข้อมูล Supabase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281584"/>
            <a:ext cx="5904616" cy="68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19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จัดเก็บข้อมูลลูกค้าและรูปแบบ Sticker ทั้งหมด รองรับการค้นหาแบบเรียลไทม์ภายใน 1 วินาที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7756762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9861" y="7737712"/>
            <a:ext cx="3575202" cy="40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5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การจัดการเส้นทางข้อมูล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223995"/>
            <a:ext cx="5904616" cy="68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19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Workflow แยกเส้นทาง "พบข้อมูล" และ "ไม่พบข้อมูล" เพื่อตอบสนองผู้ใช้ได้อย่างถูกต้องเสมอ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360110"/>
            <a:ext cx="5904616" cy="68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19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แบ่งการทำงานเป็น Node ย่อยแต่ละตัวทำหน้าที่เฉพาะ เช่น รับคำสั่ง, ประมวลผล, ส่งผลลัพธ์กลับ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82351" y="3871104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3"/>
                </a:lnTo>
                <a:lnTo>
                  <a:pt x="0" y="403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83511" y="3852054"/>
            <a:ext cx="4670298" cy="40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5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Integration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282351" y="5813515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3"/>
                </a:lnTo>
                <a:lnTo>
                  <a:pt x="0" y="403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83511" y="5794465"/>
            <a:ext cx="4670298" cy="40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5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Category การค้นหา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82351" y="6280748"/>
            <a:ext cx="5904616" cy="68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19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แยก Category สำหรับค้นหาชื่อลูกค้า, ตำแหน่ง Sticker และรูปแบบ Sticker ได้อย่างแม่นยำ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282351" y="7755926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983511" y="7736876"/>
            <a:ext cx="5203455" cy="40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5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การแสดงผลแบบ Real-time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82351" y="8223159"/>
            <a:ext cx="5904616" cy="68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19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ผลลัพธ์การค้นหาแสดงในหน้าจอ Chat ทันที พร้อมรูปภาพ Sticker และข้อมูลครบถ้วน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82351" y="4359274"/>
            <a:ext cx="5904616" cy="68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19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Chat Bot ถูกฝังเป็นส่วนหนึ่งของ Application เดิม ไม่ต้องสร้างระบบใหม่ทั้งหมด ลดต้นทุนการพัฒนา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28750"/>
            <a:ext cx="1136332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4"/>
              </a:lnSpc>
              <a:spcBef>
                <a:spcPct val="0"/>
              </a:spcBef>
            </a:pPr>
            <a:r>
              <a:rPr lang="en-US" b="true" sz="417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งบประมาณโครงการ (ปัจจุบัน &amp; อนาคต)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8643895" y="-2341789"/>
            <a:ext cx="10484497" cy="14144347"/>
          </a:xfrm>
          <a:custGeom>
            <a:avLst/>
            <a:gdLst/>
            <a:ahLst/>
            <a:cxnLst/>
            <a:rect r="r" b="b" t="t" l="l"/>
            <a:pathLst>
              <a:path h="14144347" w="10484497">
                <a:moveTo>
                  <a:pt x="10484497" y="0"/>
                </a:moveTo>
                <a:lnTo>
                  <a:pt x="0" y="0"/>
                </a:lnTo>
                <a:lnTo>
                  <a:pt x="0" y="14144347"/>
                </a:lnTo>
                <a:lnTo>
                  <a:pt x="10484497" y="14144347"/>
                </a:lnTo>
                <a:lnTo>
                  <a:pt x="1048449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151" y="3544570"/>
            <a:ext cx="6934200" cy="5905500"/>
            <a:chOff x="0" y="0"/>
            <a:chExt cx="9245600" cy="787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456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9245600">
                  <a:moveTo>
                    <a:pt x="787400" y="0"/>
                  </a:moveTo>
                  <a:lnTo>
                    <a:pt x="8458200" y="0"/>
                  </a:lnTo>
                  <a:cubicBezTo>
                    <a:pt x="8893069" y="0"/>
                    <a:pt x="9245600" y="352531"/>
                    <a:pt x="9245600" y="787400"/>
                  </a:cubicBezTo>
                  <a:lnTo>
                    <a:pt x="9245600" y="7086600"/>
                  </a:lnTo>
                  <a:cubicBezTo>
                    <a:pt x="9245600" y="7521469"/>
                    <a:pt x="8893069" y="7874000"/>
                    <a:pt x="8458200" y="7874000"/>
                  </a:cubicBezTo>
                  <a:lnTo>
                    <a:pt x="787400" y="7874000"/>
                  </a:lnTo>
                  <a:cubicBezTo>
                    <a:pt x="352531" y="7874000"/>
                    <a:pt x="0" y="7521469"/>
                    <a:pt x="0" y="7086600"/>
                  </a:cubicBezTo>
                  <a:lnTo>
                    <a:pt x="0" y="787400"/>
                  </a:lnTo>
                  <a:cubicBezTo>
                    <a:pt x="0" y="352531"/>
                    <a:pt x="352531" y="0"/>
                    <a:pt x="787400" y="0"/>
                  </a:cubicBezTo>
                  <a:close/>
                </a:path>
              </a:pathLst>
            </a:custGeom>
            <a:solidFill>
              <a:srgbClr val="0D4F3C">
                <a:alpha val="8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53250" y="3619500"/>
            <a:ext cx="6934200" cy="5905500"/>
            <a:chOff x="0" y="0"/>
            <a:chExt cx="9245600" cy="787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56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9245600">
                  <a:moveTo>
                    <a:pt x="787400" y="0"/>
                  </a:moveTo>
                  <a:lnTo>
                    <a:pt x="8458200" y="0"/>
                  </a:lnTo>
                  <a:cubicBezTo>
                    <a:pt x="8893069" y="0"/>
                    <a:pt x="9245600" y="352531"/>
                    <a:pt x="9245600" y="787400"/>
                  </a:cubicBezTo>
                  <a:lnTo>
                    <a:pt x="9245600" y="7086600"/>
                  </a:lnTo>
                  <a:cubicBezTo>
                    <a:pt x="9245600" y="7521469"/>
                    <a:pt x="8893069" y="7874000"/>
                    <a:pt x="8458200" y="7874000"/>
                  </a:cubicBezTo>
                  <a:lnTo>
                    <a:pt x="787400" y="7874000"/>
                  </a:lnTo>
                  <a:cubicBezTo>
                    <a:pt x="352531" y="7874000"/>
                    <a:pt x="0" y="7521469"/>
                    <a:pt x="0" y="7086600"/>
                  </a:cubicBezTo>
                  <a:lnTo>
                    <a:pt x="0" y="787400"/>
                  </a:lnTo>
                  <a:cubicBezTo>
                    <a:pt x="0" y="352531"/>
                    <a:pt x="352531" y="0"/>
                    <a:pt x="787400" y="0"/>
                  </a:cubicBezTo>
                  <a:close/>
                </a:path>
              </a:pathLst>
            </a:custGeom>
            <a:solidFill>
              <a:srgbClr val="7C2D12">
                <a:alpha val="84706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871940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9861" y="3857625"/>
            <a:ext cx="31623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1"/>
              </a:lnSpc>
              <a:spcBef>
                <a:spcPct val="0"/>
              </a:spcBef>
            </a:pPr>
            <a:r>
              <a:rPr lang="en-US" b="true" sz="18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ค่าเครื่องมือ Workflow (n8n)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6093556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9861" y="6084031"/>
            <a:ext cx="3162300" cy="3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4"/>
              </a:lnSpc>
              <a:spcBef>
                <a:spcPct val="0"/>
              </a:spcBef>
            </a:pPr>
            <a:r>
              <a:rPr lang="en-US" b="true" sz="221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ค่าฐานข้อมูล (Supabase)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96062"/>
            <a:ext cx="59055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ใช้ Supabase Free Tier รองรับข้อมูลลูกค้าได้เพียงพอ = 0 บาท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7756762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29861" y="7734300"/>
            <a:ext cx="35814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8"/>
              </a:lnSpc>
              <a:spcBef>
                <a:spcPct val="0"/>
              </a:spcBef>
            </a:pPr>
            <a:r>
              <a:rPr lang="en-US" b="true" sz="257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ค่าพัฒนา Application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210550"/>
            <a:ext cx="59055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sz="197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เพิ่มเพียง 1 หน้า Chat ใน Application เดิม พัฒนาเองโดยไม่จ้างภายนอก = 0 บาท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352925"/>
            <a:ext cx="59055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ใ</a:t>
            </a:r>
            <a:r>
              <a:rPr lang="en-US" b="true" sz="20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ช้ n8n แบบ Cloud Hosting = </a:t>
            </a: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1400 บาท/ปี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282351" y="3871104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3"/>
                </a:lnTo>
                <a:lnTo>
                  <a:pt x="0" y="403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983511" y="3848100"/>
            <a:ext cx="46767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8"/>
              </a:lnSpc>
              <a:spcBef>
                <a:spcPct val="0"/>
              </a:spcBef>
            </a:pPr>
            <a:r>
              <a:rPr lang="en-US" b="true" sz="257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Supabase Pro Plan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282351" y="5813515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3"/>
                </a:lnTo>
                <a:lnTo>
                  <a:pt x="0" y="403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983511" y="5791200"/>
            <a:ext cx="46767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8"/>
              </a:lnSpc>
              <a:spcBef>
                <a:spcPct val="0"/>
              </a:spcBef>
            </a:pPr>
            <a:r>
              <a:rPr lang="en-US" b="true" sz="257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n8n Cloud Pro Plan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82351" y="6267450"/>
            <a:ext cx="59055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รองรับ Workflow ซับซ้อนขึ้น ประมาณ 700 บาท/เดือน (~8,400 บาท/ปี)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286625" y="7753350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981950" y="7734300"/>
            <a:ext cx="52101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8"/>
              </a:lnSpc>
              <a:spcBef>
                <a:spcPct val="0"/>
              </a:spcBef>
            </a:pPr>
            <a:r>
              <a:rPr lang="en-US" b="true" sz="257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รวมงบประมาณอนาคต (โดยประมาณ)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86625" y="8210550"/>
            <a:ext cx="59055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ประมาณ 18,900 - 25,000 บาท/ปี (Server + Database + Workflow)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82351" y="4352925"/>
            <a:ext cx="5905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5"/>
              </a:lnSpc>
              <a:spcBef>
                <a:spcPct val="0"/>
              </a:spcBef>
            </a:pPr>
            <a:r>
              <a:rPr lang="en-US" sz="183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รองรับข้อมูลมากขึ้น ประมาณ 875 บาท/เดือน (~10,500 บาท/ปี)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628900"/>
            <a:ext cx="7620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งบประมาณปัจจุบัน: 0 บาท (ใช้ Open Source ทั้งหมด)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62850" y="3051175"/>
            <a:ext cx="5715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B92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อนาคต (ถ้าระบบขยาย)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3950" y="3041650"/>
            <a:ext cx="571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34D39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ปัจจุบัน ( 3000บาท)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8700" y="5049568"/>
            <a:ext cx="595961" cy="403764"/>
          </a:xfrm>
          <a:custGeom>
            <a:avLst/>
            <a:gdLst/>
            <a:ahLst/>
            <a:cxnLst/>
            <a:rect r="r" b="b" t="t" l="l"/>
            <a:pathLst>
              <a:path h="403764" w="595961">
                <a:moveTo>
                  <a:pt x="0" y="0"/>
                </a:moveTo>
                <a:lnTo>
                  <a:pt x="595961" y="0"/>
                </a:lnTo>
                <a:lnTo>
                  <a:pt x="595961" y="403764"/>
                </a:lnTo>
                <a:lnTo>
                  <a:pt x="0" y="40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878309" y="4929296"/>
            <a:ext cx="4206283" cy="69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4"/>
              </a:lnSpc>
              <a:spcBef>
                <a:spcPct val="0"/>
              </a:spcBef>
            </a:pPr>
            <a:r>
              <a:rPr lang="en-US" b="true" sz="22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OpenAI</a:t>
            </a:r>
            <a:r>
              <a:rPr lang="en-US" sz="22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= คิดตามจำนวน Token ที่ใช้ ประมาณ 1500 บาท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85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78744" y="3046907"/>
            <a:ext cx="2430424" cy="2430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25493" y="3187240"/>
            <a:ext cx="2149758" cy="214975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760691" y="3707533"/>
            <a:ext cx="1871606" cy="1127016"/>
          </a:xfrm>
          <a:custGeom>
            <a:avLst/>
            <a:gdLst/>
            <a:ahLst/>
            <a:cxnLst/>
            <a:rect r="r" b="b" t="t" l="l"/>
            <a:pathLst>
              <a:path h="1127016" w="1871606">
                <a:moveTo>
                  <a:pt x="0" y="0"/>
                </a:moveTo>
                <a:lnTo>
                  <a:pt x="1871606" y="0"/>
                </a:lnTo>
                <a:lnTo>
                  <a:pt x="1871606" y="1127016"/>
                </a:lnTo>
                <a:lnTo>
                  <a:pt x="0" y="1127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022323" y="9258300"/>
            <a:ext cx="10750552" cy="2065646"/>
            <a:chOff x="0" y="0"/>
            <a:chExt cx="3172632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2632" cy="609600"/>
            </a:xfrm>
            <a:custGeom>
              <a:avLst/>
              <a:gdLst/>
              <a:ahLst/>
              <a:cxnLst/>
              <a:rect r="r" b="b" t="t" l="l"/>
              <a:pathLst>
                <a:path h="609600" w="3172632">
                  <a:moveTo>
                    <a:pt x="203200" y="0"/>
                  </a:moveTo>
                  <a:lnTo>
                    <a:pt x="3172632" y="0"/>
                  </a:lnTo>
                  <a:lnTo>
                    <a:pt x="296943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2969432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59771" y="9246400"/>
            <a:ext cx="10750552" cy="2065646"/>
            <a:chOff x="0" y="0"/>
            <a:chExt cx="317263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2632" cy="609600"/>
            </a:xfrm>
            <a:custGeom>
              <a:avLst/>
              <a:gdLst/>
              <a:ahLst/>
              <a:cxnLst/>
              <a:rect r="r" b="b" t="t" l="l"/>
              <a:pathLst>
                <a:path h="609600" w="3172632">
                  <a:moveTo>
                    <a:pt x="203200" y="0"/>
                  </a:moveTo>
                  <a:lnTo>
                    <a:pt x="3172632" y="0"/>
                  </a:lnTo>
                  <a:lnTo>
                    <a:pt x="296943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969432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378387" y="3046907"/>
            <a:ext cx="2441508" cy="2430424"/>
          </a:xfrm>
          <a:custGeom>
            <a:avLst/>
            <a:gdLst/>
            <a:ahLst/>
            <a:cxnLst/>
            <a:rect r="r" b="b" t="t" l="l"/>
            <a:pathLst>
              <a:path h="2430424" w="2441508">
                <a:moveTo>
                  <a:pt x="0" y="0"/>
                </a:moveTo>
                <a:lnTo>
                  <a:pt x="2441508" y="0"/>
                </a:lnTo>
                <a:lnTo>
                  <a:pt x="2441508" y="2430424"/>
                </a:lnTo>
                <a:lnTo>
                  <a:pt x="0" y="2430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2" t="-435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78744" y="3046907"/>
            <a:ext cx="2430424" cy="2433854"/>
          </a:xfrm>
          <a:custGeom>
            <a:avLst/>
            <a:gdLst/>
            <a:ahLst/>
            <a:cxnLst/>
            <a:rect r="r" b="b" t="t" l="l"/>
            <a:pathLst>
              <a:path h="2433854" w="2430424">
                <a:moveTo>
                  <a:pt x="0" y="0"/>
                </a:moveTo>
                <a:lnTo>
                  <a:pt x="2430424" y="0"/>
                </a:lnTo>
                <a:lnTo>
                  <a:pt x="2430424" y="2433855"/>
                </a:lnTo>
                <a:lnTo>
                  <a:pt x="0" y="2433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66" t="-6683" r="-4294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90749" y="3214572"/>
            <a:ext cx="2453251" cy="2266190"/>
          </a:xfrm>
          <a:custGeom>
            <a:avLst/>
            <a:gdLst/>
            <a:ahLst/>
            <a:cxnLst/>
            <a:rect r="r" b="b" t="t" l="l"/>
            <a:pathLst>
              <a:path h="2266190" w="2453251">
                <a:moveTo>
                  <a:pt x="0" y="0"/>
                </a:moveTo>
                <a:lnTo>
                  <a:pt x="2453251" y="0"/>
                </a:lnTo>
                <a:lnTo>
                  <a:pt x="2453251" y="2266190"/>
                </a:lnTo>
                <a:lnTo>
                  <a:pt x="0" y="2266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61895" y="1712045"/>
            <a:ext cx="2218752" cy="3768717"/>
          </a:xfrm>
          <a:custGeom>
            <a:avLst/>
            <a:gdLst/>
            <a:ahLst/>
            <a:cxnLst/>
            <a:rect r="r" b="b" t="t" l="l"/>
            <a:pathLst>
              <a:path h="3768717" w="2218752">
                <a:moveTo>
                  <a:pt x="0" y="0"/>
                </a:moveTo>
                <a:lnTo>
                  <a:pt x="2218752" y="0"/>
                </a:lnTo>
                <a:lnTo>
                  <a:pt x="2218752" y="3768717"/>
                </a:lnTo>
                <a:lnTo>
                  <a:pt x="0" y="3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185" r="-4104" b="-818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1326" y="3134547"/>
            <a:ext cx="2393968" cy="2202451"/>
          </a:xfrm>
          <a:custGeom>
            <a:avLst/>
            <a:gdLst/>
            <a:ahLst/>
            <a:cxnLst/>
            <a:rect r="r" b="b" t="t" l="l"/>
            <a:pathLst>
              <a:path h="2202451" w="2393968">
                <a:moveTo>
                  <a:pt x="0" y="0"/>
                </a:moveTo>
                <a:lnTo>
                  <a:pt x="2393968" y="0"/>
                </a:lnTo>
                <a:lnTo>
                  <a:pt x="2393968" y="2202451"/>
                </a:lnTo>
                <a:lnTo>
                  <a:pt x="0" y="22024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811880" y="916632"/>
            <a:ext cx="10664239" cy="86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73"/>
              </a:lnSpc>
            </a:pPr>
            <a:r>
              <a:rPr lang="en-US" b="true" sz="53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 การทำงาน CHAT BOT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3903" y="5833187"/>
            <a:ext cx="2840019" cy="35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พิมพ์คำสั่ง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73947" y="5833187"/>
            <a:ext cx="2840019" cy="68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ส่งคำสั่งไปยัง Workflow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23991" y="5833187"/>
            <a:ext cx="2840019" cy="35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n8n ประมวลผล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74035" y="5833187"/>
            <a:ext cx="2840019" cy="68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ค้นหาข้อมูลใน Supabase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24079" y="5833187"/>
            <a:ext cx="2840019" cy="68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ส่งคำตอบ</a:t>
            </a:r>
          </a:p>
          <a:p>
            <a:pPr algn="ctr" marL="0" indent="0" lvl="0">
              <a:lnSpc>
                <a:spcPts val="2651"/>
              </a:lnSpc>
            </a:pPr>
            <a:r>
              <a:rPr lang="en-US" b="true" sz="27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แบบเรียลไทม์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340" y="6779857"/>
            <a:ext cx="3107144" cy="10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พิมพ์ชื่อลูกค้าหรือคำสั่งค้นหาข้อมูล Sticker ในช่องแชทของ Application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40384" y="6779857"/>
            <a:ext cx="3107144" cy="10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ระบบรับคำสั่งและส่งต่อไปยัง Workflow n8n เพื่อเริ่มกระบวนการประมวลผล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90428" y="6779857"/>
            <a:ext cx="3107144" cy="10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n8n แบ่งงานเป็น Node ย่อย แต่ละ Node ทำหน้าที่เฉพาะในการจัดการคำสั่ง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40472" y="6779857"/>
            <a:ext cx="3107144" cy="10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ค้นหาข้อมูลชื่อลูกค้า ตำแหน่ง และรูปแบบ Sticker จากฐานข้อมูล Supabase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90516" y="6779857"/>
            <a:ext cx="3107144" cy="69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4"/>
              </a:lnSpc>
            </a:pPr>
            <a:r>
              <a:rPr lang="en-US" sz="2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แสดงผลลัพธ์กลับมายังหน้าจอ Chat ทันที ภายใน 1 วินาที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8515" y="108585"/>
            <a:ext cx="11430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 Chat Bot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81500" y="990600"/>
            <a:ext cx="9525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8A00"/>
                </a:solidFill>
                <a:latin typeface="Montserrat"/>
                <a:ea typeface="Montserrat"/>
                <a:cs typeface="Montserrat"/>
                <a:sym typeface="Montserrat"/>
              </a:rPr>
              <a:t>https://back-wash-test.vercel.app/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064565" y="1633348"/>
            <a:ext cx="3917900" cy="7549894"/>
            <a:chOff x="0" y="0"/>
            <a:chExt cx="4613327" cy="8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13327" cy="8890000"/>
            </a:xfrm>
            <a:custGeom>
              <a:avLst/>
              <a:gdLst/>
              <a:ahLst/>
              <a:cxnLst/>
              <a:rect r="r" b="b" t="t" l="l"/>
              <a:pathLst>
                <a:path h="8890000" w="4613327">
                  <a:moveTo>
                    <a:pt x="322933" y="0"/>
                  </a:moveTo>
                  <a:lnTo>
                    <a:pt x="4290394" y="0"/>
                  </a:lnTo>
                  <a:cubicBezTo>
                    <a:pt x="4468745" y="0"/>
                    <a:pt x="4613327" y="398019"/>
                    <a:pt x="4613327" y="889000"/>
                  </a:cubicBezTo>
                  <a:lnTo>
                    <a:pt x="4613327" y="8001000"/>
                  </a:lnTo>
                  <a:cubicBezTo>
                    <a:pt x="4613327" y="8491981"/>
                    <a:pt x="4468745" y="8890000"/>
                    <a:pt x="4290394" y="8890000"/>
                  </a:cubicBezTo>
                  <a:lnTo>
                    <a:pt x="322933" y="8890000"/>
                  </a:lnTo>
                  <a:cubicBezTo>
                    <a:pt x="144582" y="8890000"/>
                    <a:pt x="0" y="8491981"/>
                    <a:pt x="0" y="8001000"/>
                  </a:cubicBezTo>
                  <a:lnTo>
                    <a:pt x="0" y="889000"/>
                  </a:lnTo>
                  <a:cubicBezTo>
                    <a:pt x="0" y="398019"/>
                    <a:pt x="144582" y="0"/>
                    <a:pt x="322933" y="0"/>
                  </a:cubicBezTo>
                  <a:close/>
                </a:path>
              </a:pathLst>
            </a:custGeom>
            <a:blipFill>
              <a:blip r:embed="rId2"/>
              <a:stretch>
                <a:fillRect l="-628" t="0" r="-62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29000" y="9391650"/>
            <a:ext cx="11430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พิมพ์ชื่อลูกค้าในช่อง Chat เพื่อค้นหาข้อมูล Sticker ได้ทันที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443218"/>
            <a:ext cx="15877436" cy="5657850"/>
            <a:chOff x="0" y="0"/>
            <a:chExt cx="4181712" cy="14901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81711" cy="1490133"/>
            </a:xfrm>
            <a:custGeom>
              <a:avLst/>
              <a:gdLst/>
              <a:ahLst/>
              <a:cxnLst/>
              <a:rect r="r" b="b" t="t" l="l"/>
              <a:pathLst>
                <a:path h="1490133" w="4181711">
                  <a:moveTo>
                    <a:pt x="0" y="0"/>
                  </a:moveTo>
                  <a:lnTo>
                    <a:pt x="4181711" y="0"/>
                  </a:lnTo>
                  <a:lnTo>
                    <a:pt x="4181711" y="1490133"/>
                  </a:lnTo>
                  <a:lnTo>
                    <a:pt x="0" y="1490133"/>
                  </a:lnTo>
                  <a:close/>
                </a:path>
              </a:pathLst>
            </a:custGeom>
            <a:solidFill>
              <a:srgbClr val="09345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81712" cy="1528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45496" y="4493091"/>
            <a:ext cx="323399" cy="492798"/>
          </a:xfrm>
          <a:custGeom>
            <a:avLst/>
            <a:gdLst/>
            <a:ahLst/>
            <a:cxnLst/>
            <a:rect r="r" b="b" t="t" l="l"/>
            <a:pathLst>
              <a:path h="492798" w="323399">
                <a:moveTo>
                  <a:pt x="0" y="0"/>
                </a:moveTo>
                <a:lnTo>
                  <a:pt x="323399" y="0"/>
                </a:lnTo>
                <a:lnTo>
                  <a:pt x="323399" y="492797"/>
                </a:lnTo>
                <a:lnTo>
                  <a:pt x="0" y="492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45496" y="5940598"/>
            <a:ext cx="323399" cy="492798"/>
          </a:xfrm>
          <a:custGeom>
            <a:avLst/>
            <a:gdLst/>
            <a:ahLst/>
            <a:cxnLst/>
            <a:rect r="r" b="b" t="t" l="l"/>
            <a:pathLst>
              <a:path h="492798" w="323399">
                <a:moveTo>
                  <a:pt x="0" y="0"/>
                </a:moveTo>
                <a:lnTo>
                  <a:pt x="323399" y="0"/>
                </a:lnTo>
                <a:lnTo>
                  <a:pt x="323399" y="492797"/>
                </a:lnTo>
                <a:lnTo>
                  <a:pt x="0" y="492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45496" y="7427146"/>
            <a:ext cx="323399" cy="492798"/>
          </a:xfrm>
          <a:custGeom>
            <a:avLst/>
            <a:gdLst/>
            <a:ahLst/>
            <a:cxnLst/>
            <a:rect r="r" b="b" t="t" l="l"/>
            <a:pathLst>
              <a:path h="492798" w="323399">
                <a:moveTo>
                  <a:pt x="0" y="0"/>
                </a:moveTo>
                <a:lnTo>
                  <a:pt x="323399" y="0"/>
                </a:lnTo>
                <a:lnTo>
                  <a:pt x="323399" y="492798"/>
                </a:lnTo>
                <a:lnTo>
                  <a:pt x="0" y="4927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22223" y="4493091"/>
            <a:ext cx="323399" cy="492798"/>
          </a:xfrm>
          <a:custGeom>
            <a:avLst/>
            <a:gdLst/>
            <a:ahLst/>
            <a:cxnLst/>
            <a:rect r="r" b="b" t="t" l="l"/>
            <a:pathLst>
              <a:path h="492798" w="323399">
                <a:moveTo>
                  <a:pt x="0" y="0"/>
                </a:moveTo>
                <a:lnTo>
                  <a:pt x="323399" y="0"/>
                </a:lnTo>
                <a:lnTo>
                  <a:pt x="323399" y="492797"/>
                </a:lnTo>
                <a:lnTo>
                  <a:pt x="0" y="492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22223" y="5859971"/>
            <a:ext cx="323399" cy="492798"/>
          </a:xfrm>
          <a:custGeom>
            <a:avLst/>
            <a:gdLst/>
            <a:ahLst/>
            <a:cxnLst/>
            <a:rect r="r" b="b" t="t" l="l"/>
            <a:pathLst>
              <a:path h="492798" w="323399">
                <a:moveTo>
                  <a:pt x="0" y="0"/>
                </a:moveTo>
                <a:lnTo>
                  <a:pt x="323399" y="0"/>
                </a:lnTo>
                <a:lnTo>
                  <a:pt x="323399" y="492798"/>
                </a:lnTo>
                <a:lnTo>
                  <a:pt x="0" y="4927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22223" y="7571371"/>
            <a:ext cx="323399" cy="492798"/>
          </a:xfrm>
          <a:custGeom>
            <a:avLst/>
            <a:gdLst/>
            <a:ahLst/>
            <a:cxnLst/>
            <a:rect r="r" b="b" t="t" l="l"/>
            <a:pathLst>
              <a:path h="492798" w="323399">
                <a:moveTo>
                  <a:pt x="0" y="0"/>
                </a:moveTo>
                <a:lnTo>
                  <a:pt x="323399" y="0"/>
                </a:lnTo>
                <a:lnTo>
                  <a:pt x="323399" y="492798"/>
                </a:lnTo>
                <a:lnTo>
                  <a:pt x="0" y="4927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392014" y="0"/>
            <a:ext cx="13503971" cy="3052693"/>
            <a:chOff x="0" y="0"/>
            <a:chExt cx="2696643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96643" cy="609600"/>
            </a:xfrm>
            <a:custGeom>
              <a:avLst/>
              <a:gdLst/>
              <a:ahLst/>
              <a:cxnLst/>
              <a:rect r="r" b="b" t="t" l="l"/>
              <a:pathLst>
                <a:path h="609600" w="2696643">
                  <a:moveTo>
                    <a:pt x="203200" y="609600"/>
                  </a:moveTo>
                  <a:lnTo>
                    <a:pt x="2493443" y="609600"/>
                  </a:lnTo>
                  <a:lnTo>
                    <a:pt x="2696643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-38100"/>
              <a:ext cx="244264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388091" y="2110452"/>
            <a:ext cx="706328" cy="292538"/>
          </a:xfrm>
          <a:custGeom>
            <a:avLst/>
            <a:gdLst/>
            <a:ahLst/>
            <a:cxnLst/>
            <a:rect r="r" b="b" t="t" l="l"/>
            <a:pathLst>
              <a:path h="292538" w="706328">
                <a:moveTo>
                  <a:pt x="0" y="0"/>
                </a:moveTo>
                <a:lnTo>
                  <a:pt x="706328" y="0"/>
                </a:lnTo>
                <a:lnTo>
                  <a:pt x="706328" y="292537"/>
                </a:lnTo>
                <a:lnTo>
                  <a:pt x="0" y="292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934483" y="790575"/>
            <a:ext cx="1041903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6"/>
              </a:lnSpc>
            </a:pPr>
            <a:r>
              <a:rPr lang="en-US" b="true" sz="6155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ผลลัพธ์และประโยชน์ที่ได้รับ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77690" y="3548154"/>
            <a:ext cx="9560630" cy="53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1"/>
              </a:lnSpc>
            </a:pPr>
            <a:r>
              <a:rPr lang="en-US" b="true" sz="3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ผลลัพธ์หลักที่ได้รับจากการใช้งานระบบ Chat Bot: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06095" y="4532181"/>
            <a:ext cx="5864453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ลดเวลาค้นหาจาก 5-10 นาที เหลือเพียง 1 วินาที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06095" y="5821871"/>
            <a:ext cx="6261323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ความแม่นยำ 100% ในการค้นหาข้อมูล Sticker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06095" y="7472293"/>
            <a:ext cx="6852941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ลดความผิดพลาดการติด Sticker ผิดตำแหน่งหรือผิดลูกค้า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87807" y="4532181"/>
            <a:ext cx="5600285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ใครก็สามารถค้นหาข้อมูลได้ ไม่ต้องพึ่งเจ้าหน้าที่เฉพาะ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85789" y="5932417"/>
            <a:ext cx="5457980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เพิ่ม Productivity และลดภาระงานซ้ำซ้อน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83772" y="7635445"/>
            <a:ext cx="5662015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รองรับการขยายฐานข้อมูลลูกค้าในอนาคต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28700" y="2256721"/>
            <a:ext cx="706328" cy="292538"/>
          </a:xfrm>
          <a:custGeom>
            <a:avLst/>
            <a:gdLst/>
            <a:ahLst/>
            <a:cxnLst/>
            <a:rect r="r" b="b" t="t" l="l"/>
            <a:pathLst>
              <a:path h="292538" w="706328">
                <a:moveTo>
                  <a:pt x="0" y="0"/>
                </a:moveTo>
                <a:lnTo>
                  <a:pt x="706328" y="0"/>
                </a:lnTo>
                <a:lnTo>
                  <a:pt x="706328" y="292537"/>
                </a:lnTo>
                <a:lnTo>
                  <a:pt x="0" y="292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92985">
            <a:off x="8406966" y="-2071548"/>
            <a:ext cx="10484497" cy="14144347"/>
          </a:xfrm>
          <a:custGeom>
            <a:avLst/>
            <a:gdLst/>
            <a:ahLst/>
            <a:cxnLst/>
            <a:rect r="r" b="b" t="t" l="l"/>
            <a:pathLst>
              <a:path h="14144347" w="10484497">
                <a:moveTo>
                  <a:pt x="10484498" y="0"/>
                </a:moveTo>
                <a:lnTo>
                  <a:pt x="0" y="0"/>
                </a:lnTo>
                <a:lnTo>
                  <a:pt x="0" y="14144346"/>
                </a:lnTo>
                <a:lnTo>
                  <a:pt x="10484498" y="14144346"/>
                </a:lnTo>
                <a:lnTo>
                  <a:pt x="104844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94470" y="5884362"/>
            <a:ext cx="9421110" cy="1168106"/>
            <a:chOff x="0" y="0"/>
            <a:chExt cx="3277733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77733" cy="406400"/>
            </a:xfrm>
            <a:custGeom>
              <a:avLst/>
              <a:gdLst/>
              <a:ahLst/>
              <a:cxnLst/>
              <a:rect r="r" b="b" t="t" l="l"/>
              <a:pathLst>
                <a:path h="406400" w="3277733">
                  <a:moveTo>
                    <a:pt x="307453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74533" y="406400"/>
                  </a:lnTo>
                  <a:lnTo>
                    <a:pt x="3277733" y="203200"/>
                  </a:lnTo>
                  <a:lnTo>
                    <a:pt x="3074533" y="0"/>
                  </a:lnTo>
                  <a:close/>
                </a:path>
              </a:pathLst>
            </a:custGeom>
            <a:solidFill>
              <a:srgbClr val="162F5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6343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59588" y="577022"/>
            <a:ext cx="8847206" cy="88472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90061" y="1007495"/>
            <a:ext cx="7986261" cy="79862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232309" y="2327254"/>
            <a:ext cx="5094722" cy="5094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530657" y="5884362"/>
            <a:ext cx="9421110" cy="1168106"/>
            <a:chOff x="0" y="0"/>
            <a:chExt cx="3277733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77733" cy="406400"/>
            </a:xfrm>
            <a:custGeom>
              <a:avLst/>
              <a:gdLst/>
              <a:ahLst/>
              <a:cxnLst/>
              <a:rect r="r" b="b" t="t" l="l"/>
              <a:pathLst>
                <a:path h="406400" w="3277733">
                  <a:moveTo>
                    <a:pt x="307453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74533" y="406400"/>
                  </a:lnTo>
                  <a:lnTo>
                    <a:pt x="3277733" y="203200"/>
                  </a:lnTo>
                  <a:lnTo>
                    <a:pt x="3074533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6343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9886" y="-3599961"/>
            <a:ext cx="5927215" cy="59272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276225" cap="sq">
              <a:solidFill>
                <a:srgbClr val="162F5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28700" y="639099"/>
            <a:ext cx="1023321" cy="736791"/>
          </a:xfrm>
          <a:custGeom>
            <a:avLst/>
            <a:gdLst/>
            <a:ahLst/>
            <a:cxnLst/>
            <a:rect r="r" b="b" t="t" l="l"/>
            <a:pathLst>
              <a:path h="736791" w="1023321">
                <a:moveTo>
                  <a:pt x="0" y="0"/>
                </a:moveTo>
                <a:lnTo>
                  <a:pt x="1023321" y="0"/>
                </a:lnTo>
                <a:lnTo>
                  <a:pt x="1023321" y="736791"/>
                </a:lnTo>
                <a:lnTo>
                  <a:pt x="0" y="7367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656306" y="5623949"/>
            <a:ext cx="4576003" cy="457600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A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78957" y="5846601"/>
            <a:ext cx="4130700" cy="41307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7"/>
              <a:stretch>
                <a:fillRect l="-78303" t="0" r="-78303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8886850" y="8052008"/>
            <a:ext cx="1140616" cy="481910"/>
          </a:xfrm>
          <a:custGeom>
            <a:avLst/>
            <a:gdLst/>
            <a:ahLst/>
            <a:cxnLst/>
            <a:rect r="r" b="b" t="t" l="l"/>
            <a:pathLst>
              <a:path h="481910" w="1140616">
                <a:moveTo>
                  <a:pt x="0" y="0"/>
                </a:moveTo>
                <a:lnTo>
                  <a:pt x="1140616" y="0"/>
                </a:lnTo>
                <a:lnTo>
                  <a:pt x="1140616" y="481911"/>
                </a:lnTo>
                <a:lnTo>
                  <a:pt x="0" y="4819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5847" y="2583847"/>
            <a:ext cx="9885662" cy="148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83"/>
              </a:lnSpc>
            </a:pPr>
            <a:r>
              <a:rPr lang="en-US" b="true" sz="11296">
                <a:solidFill>
                  <a:srgbClr val="162F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ขอบคุณครับ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975" y="4029638"/>
            <a:ext cx="9316613" cy="81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47"/>
              </a:lnSpc>
            </a:pPr>
            <a:r>
              <a:rPr lang="en-US" sz="6209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ที่รับฟังการนำเสนอ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5454" y="6060789"/>
            <a:ext cx="6254643" cy="7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61"/>
              </a:lnSpc>
              <a:spcBef>
                <a:spcPct val="0"/>
              </a:spcBef>
            </a:pPr>
            <a:r>
              <a:rPr lang="en-US" b="true" sz="4401">
                <a:solidFill>
                  <a:srgbClr val="162F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ถามตอบ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26747" y="739408"/>
            <a:ext cx="3293095" cy="71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</a:pPr>
            <a:r>
              <a:rPr lang="en-US" sz="2040">
                <a:solidFill>
                  <a:srgbClr val="162F56"/>
                </a:solidFill>
                <a:latin typeface="Montserrat"/>
                <a:ea typeface="Montserrat"/>
                <a:cs typeface="Montserrat"/>
                <a:sym typeface="Montserrat"/>
              </a:rPr>
              <a:t>Kaizen &amp; Innovation Awards 2026</a:t>
            </a:r>
          </a:p>
        </p:txBody>
      </p:sp>
      <p:sp>
        <p:nvSpPr>
          <p:cNvPr name="Freeform 31" id="31"/>
          <p:cNvSpPr/>
          <p:nvPr/>
        </p:nvSpPr>
        <p:spPr>
          <a:xfrm flipH="true" flipV="false" rot="0">
            <a:off x="7019270" y="751672"/>
            <a:ext cx="1140616" cy="481910"/>
          </a:xfrm>
          <a:custGeom>
            <a:avLst/>
            <a:gdLst/>
            <a:ahLst/>
            <a:cxnLst/>
            <a:rect r="r" b="b" t="t" l="l"/>
            <a:pathLst>
              <a:path h="481910" w="1140616">
                <a:moveTo>
                  <a:pt x="1140616" y="0"/>
                </a:moveTo>
                <a:lnTo>
                  <a:pt x="0" y="0"/>
                </a:lnTo>
                <a:lnTo>
                  <a:pt x="0" y="481910"/>
                </a:lnTo>
                <a:lnTo>
                  <a:pt x="1140616" y="481910"/>
                </a:lnTo>
                <a:lnTo>
                  <a:pt x="114061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DAHL-rKyhkA</dc:identifier>
  <dcterms:modified xsi:type="dcterms:W3CDTF">2011-08-01T06:04:30Z</dcterms:modified>
  <cp:revision>1</cp:revision>
  <dc:title>Kaizen 2026: How to Stiker</dc:title>
</cp:coreProperties>
</file>